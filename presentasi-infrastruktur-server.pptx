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08312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8312F"/>
                </a:solidFill>
                <a:latin typeface="Cambria"/>
              </a:rPr>
              <a:t>Kapasitas terpasang menurut kelas disk (TB)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Kapasitas</c:v>
                </c:pt>
              </c:strCache>
            </c:strRef>
          </c:tx>
          <c:spPr>
            <a:solidFill>
              <a:srgbClr val="0F5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831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5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C3F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E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99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Ultrastar DC
(enterprise)</c:v>
                  </c:pt>
                  <c:pt idx="1">
                    <c:v>BarraCuda SMR
(desktop)</c:v>
                  </c:pt>
                  <c:pt idx="2">
                    <c:v>OOS12000G
(OEM)</c:v>
                  </c:pt>
                  <c:pt idx="3">
                    <c:v>SSD konsumer</c:v>
                  </c:pt>
                  <c:pt idx="4">
                    <c:v>HDD desktop / AV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242</c:v>
                </c:pt>
                <c:pt idx="1">
                  <c:v>112</c:v>
                </c:pt>
                <c:pt idx="2">
                  <c:v>36</c:v>
                </c:pt>
                <c:pt idx="3">
                  <c:v>22.5</c:v>
                </c:pt>
                <c:pt idx="4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831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E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"/>
        </c:scaling>
        <c:delete val="0"/>
        <c:axPos val="b"/>
        <c:majorGridlines>
          <c:spPr>
            <a:ln w="9525" cap="flat">
              <a:solidFill>
                <a:srgbClr val="DB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9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08312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8312F"/>
                </a:solidFill>
                <a:latin typeface="Cambria"/>
              </a:rPr>
              <a:t>Tingkat pemakaian tiap volume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Terpakai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831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8E2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C3F3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nvme-scratch
(Proxmox)</c:v>
                  </c:pt>
                  <c:pt idx="1">
                    <c:v>zfs-storage
(Proxmox)</c:v>
                  </c:pt>
                  <c:pt idx="2">
                    <c:v>bio-pool
(T4-Storage)</c:v>
                  </c:pt>
                  <c:pt idx="3">
                    <c:v>rpool
(Proxmox)</c:v>
                  </c:pt>
                  <c:pt idx="4">
                    <c:v>/mnt/scratch
(HPC-GPU)</c:v>
                  </c:pt>
                  <c:pt idx="5">
                    <c:v>backup-pool
(Proxmox)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11</c:v>
                </c:pt>
                <c:pt idx="2">
                  <c:v>25</c:v>
                </c:pt>
                <c:pt idx="3">
                  <c:v>28</c:v>
                </c:pt>
                <c:pt idx="4">
                  <c:v>77</c:v>
                </c:pt>
                <c:pt idx="5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831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E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B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9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1520"/>
            <a:ext cx="3931920" cy="329184"/>
          </a:xfrm>
          <a:prstGeom prst="roundRect">
            <a:avLst>
              <a:gd name="adj" fmla="val 50000"/>
            </a:avLst>
          </a:prstGeom>
          <a:solidFill>
            <a:srgbClr val="0C3F3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315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TIDAK UNTUK DISEBARLUASKAN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Infrastruktur Server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Bioinformatika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340156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nyata, kapasitas terpasang, dan risiko yang belum ditangani — disusun dari pendataan langsung tiga node bare-metal, switch, dan perangkat ISP.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526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4983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bare-metal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0" y="4526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565 TB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71800" y="4983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raw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57800" y="4526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257800" y="4983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 40 GB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5852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Internal · Ruang Server Lantai 2 · domain .hpc.local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188720"/>
            <a:ext cx="3291840" cy="4617720"/>
          </a:xfrm>
          <a:prstGeom prst="roundRect">
            <a:avLst>
              <a:gd name="adj" fmla="val 2778"/>
            </a:avLst>
          </a:prstGeom>
          <a:solidFill>
            <a:srgbClr val="0C3F3C"/>
          </a:solidFill>
          <a:ln w="15875">
            <a:solidFill>
              <a:srgbClr val="0F5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325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SERVER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321040" y="16276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A393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17876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17" name="Shape 15"/>
          <p:cNvSpPr/>
          <p:nvPr/>
        </p:nvSpPr>
        <p:spPr>
          <a:xfrm>
            <a:off x="8650224" y="17876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18" name="Shape 16"/>
          <p:cNvSpPr/>
          <p:nvPr/>
        </p:nvSpPr>
        <p:spPr>
          <a:xfrm>
            <a:off x="8796528" y="17876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19" name="Shape 17"/>
          <p:cNvSpPr/>
          <p:nvPr/>
        </p:nvSpPr>
        <p:spPr>
          <a:xfrm>
            <a:off x="8321040" y="20848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F5F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449056" y="2226564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631936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HPC-GPU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21040" y="25420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A3937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27020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24" name="Shape 22"/>
          <p:cNvSpPr/>
          <p:nvPr/>
        </p:nvSpPr>
        <p:spPr>
          <a:xfrm>
            <a:off x="8650224" y="27020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25" name="Shape 23"/>
          <p:cNvSpPr/>
          <p:nvPr/>
        </p:nvSpPr>
        <p:spPr>
          <a:xfrm>
            <a:off x="8796528" y="27020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1040" y="29992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F5F5C"/>
          </a:solidFill>
          <a:ln/>
        </p:spPr>
      </p:sp>
      <p:sp>
        <p:nvSpPr>
          <p:cNvPr id="27" name="Shape 25"/>
          <p:cNvSpPr/>
          <p:nvPr/>
        </p:nvSpPr>
        <p:spPr>
          <a:xfrm>
            <a:off x="8449056" y="3140964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8631936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T4-STORAGE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21040" y="34564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A3937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36164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31" name="Shape 29"/>
          <p:cNvSpPr/>
          <p:nvPr/>
        </p:nvSpPr>
        <p:spPr>
          <a:xfrm>
            <a:off x="8650224" y="36164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32" name="Shape 30"/>
          <p:cNvSpPr/>
          <p:nvPr/>
        </p:nvSpPr>
        <p:spPr>
          <a:xfrm>
            <a:off x="8796528" y="36164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33" name="Shape 31"/>
          <p:cNvSpPr/>
          <p:nvPr/>
        </p:nvSpPr>
        <p:spPr>
          <a:xfrm>
            <a:off x="8321040" y="39136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F5F5C"/>
          </a:solidFill>
          <a:ln/>
        </p:spPr>
      </p:sp>
      <p:sp>
        <p:nvSpPr>
          <p:cNvPr id="34" name="Shape 32"/>
          <p:cNvSpPr/>
          <p:nvPr/>
        </p:nvSpPr>
        <p:spPr>
          <a:xfrm>
            <a:off x="8449056" y="4055364"/>
            <a:ext cx="82296" cy="822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8631936" y="3913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PROXMOX-2U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43708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A3937"/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5308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38" name="Shape 36"/>
          <p:cNvSpPr/>
          <p:nvPr/>
        </p:nvSpPr>
        <p:spPr>
          <a:xfrm>
            <a:off x="8650224" y="45308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39" name="Shape 37"/>
          <p:cNvSpPr/>
          <p:nvPr/>
        </p:nvSpPr>
        <p:spPr>
          <a:xfrm>
            <a:off x="8796528" y="45308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40" name="Shape 38"/>
          <p:cNvSpPr/>
          <p:nvPr/>
        </p:nvSpPr>
        <p:spPr>
          <a:xfrm>
            <a:off x="8321040" y="48280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F5F5C"/>
          </a:solidFill>
          <a:ln/>
        </p:spPr>
      </p:sp>
      <p:sp>
        <p:nvSpPr>
          <p:cNvPr id="41" name="Shape 39"/>
          <p:cNvSpPr/>
          <p:nvPr/>
        </p:nvSpPr>
        <p:spPr>
          <a:xfrm>
            <a:off x="8449056" y="4969764"/>
            <a:ext cx="82296" cy="82296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42" name="Text 40"/>
          <p:cNvSpPr/>
          <p:nvPr/>
        </p:nvSpPr>
        <p:spPr>
          <a:xfrm>
            <a:off x="8631936" y="4828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ZYXEL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321040" y="5285232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A3937"/>
          </a:solidFill>
          <a:ln/>
        </p:spPr>
      </p:sp>
      <p:sp>
        <p:nvSpPr>
          <p:cNvPr id="44" name="Shape 42"/>
          <p:cNvSpPr/>
          <p:nvPr/>
        </p:nvSpPr>
        <p:spPr>
          <a:xfrm>
            <a:off x="8503920" y="54452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45" name="Shape 43"/>
          <p:cNvSpPr/>
          <p:nvPr/>
        </p:nvSpPr>
        <p:spPr>
          <a:xfrm>
            <a:off x="8650224" y="54452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  <p:sp>
        <p:nvSpPr>
          <p:cNvPr id="46" name="Shape 44"/>
          <p:cNvSpPr/>
          <p:nvPr/>
        </p:nvSpPr>
        <p:spPr>
          <a:xfrm>
            <a:off x="8796528" y="5445252"/>
            <a:ext cx="54864" cy="54864"/>
          </a:xfrm>
          <a:prstGeom prst="ellipse">
            <a:avLst/>
          </a:prstGeom>
          <a:solidFill>
            <a:srgbClr val="17514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terpasang, dan apa yang belum beres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483864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5564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bare-metal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6334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 berstatus production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52544" y="1536192"/>
            <a:ext cx="3483864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75564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/ 512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45152" y="237744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thread agregat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45152" y="26334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prosesor AMD EPYC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536192"/>
            <a:ext cx="3483864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175564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 TB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49056" y="237744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terpasang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49056" y="26334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+ 256 GB + 128 GB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3483864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58444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565 TB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1248" y="420624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raw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" y="44622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424,6 TB di T4 · 140 TB raidz2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52544" y="3364992"/>
            <a:ext cx="3483864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45152" y="358444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645152" y="420624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akselerator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45152" y="44622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A100 aktif · 2× Tesla T4 idle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364992"/>
            <a:ext cx="3483864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49056" y="358444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C3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449056" y="420624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prioritas kritis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49056" y="446227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satu pun ditindaklanjuti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230368"/>
            <a:ext cx="11094415" cy="969264"/>
          </a:xfrm>
          <a:prstGeom prst="roundRect">
            <a:avLst>
              <a:gd name="adj" fmla="val 8491"/>
            </a:avLst>
          </a:prstGeom>
          <a:solidFill>
            <a:srgbClr val="E4F2EF"/>
          </a:solidFill>
          <a:ln w="9525">
            <a:solidFill>
              <a:srgbClr val="C6DFD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9536" y="5358384"/>
            <a:ext cx="10472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kerasnya kelas atas — dua EPYC 64-core, 1 TB RAM ECC, dan sepasang A100. Yang belum sepadan adalah lapisan di sekelilingnya: tidak ada redundansi di titik mana pun, tidak ada backup yang terverifikasi, dan seluruh target monitoring sedang mati.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— KEADAAN SEKARANG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Semuanya bergantung pada satu switch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617720" y="1481328"/>
            <a:ext cx="2953512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617720" y="1481328"/>
            <a:ext cx="2953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HUAWEI  ·  192.168.18.1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17720" y="178308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DHCP + DNS · dikelola ISP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9904" y="2084832"/>
            <a:ext cx="18288" cy="347472"/>
          </a:xfrm>
          <a:prstGeom prst="rect">
            <a:avLst/>
          </a:prstGeom>
          <a:solidFill>
            <a:srgbClr val="8A999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32304"/>
            <a:ext cx="11094415" cy="786384"/>
          </a:xfrm>
          <a:prstGeom prst="roundRect">
            <a:avLst>
              <a:gd name="adj" fmla="val 10465"/>
            </a:avLst>
          </a:prstGeom>
          <a:solidFill>
            <a:srgbClr val="08312F"/>
          </a:solidFill>
          <a:ln/>
          <a:effectLst>
            <a:outerShdw sx="100000" sy="100000" kx="0" ky="0" algn="bl" rotWithShape="0" blurRad="152400" dist="25400" dir="5400000">
              <a:srgbClr val="0A2C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5237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ZYXEL MGS3520-28FX  ·  192.168.18.250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816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V1.06 (2019) · MTU 10248 jumbo aktif · PSU tunggal · password admin masih default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46920" y="2615184"/>
            <a:ext cx="1993392" cy="420624"/>
          </a:xfrm>
          <a:prstGeom prst="roundRect">
            <a:avLst>
              <a:gd name="adj" fmla="val 50000"/>
            </a:avLst>
          </a:prstGeom>
          <a:solidFill>
            <a:srgbClr val="BC3F38"/>
          </a:solidFill>
          <a:ln/>
        </p:spPr>
      </p:sp>
      <p:sp>
        <p:nvSpPr>
          <p:cNvPr id="12" name="Text 10"/>
          <p:cNvSpPr/>
          <p:nvPr/>
        </p:nvSpPr>
        <p:spPr>
          <a:xfrm>
            <a:off x="9646920" y="261518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SPOF ABSOLUT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90572" y="3218688"/>
            <a:ext cx="18288" cy="384048"/>
          </a:xfrm>
          <a:prstGeom prst="rect">
            <a:avLst/>
          </a:prstGeom>
          <a:solidFill>
            <a:srgbClr val="8A999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02736"/>
            <a:ext cx="3483864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31336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" y="3749040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PROXMOX-2U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0599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192.168.18.190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431596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· arsip ZFS 140 TB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8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GbE saja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94476" y="3218688"/>
            <a:ext cx="18288" cy="384048"/>
          </a:xfrm>
          <a:prstGeom prst="rect">
            <a:avLst/>
          </a:prstGeom>
          <a:solidFill>
            <a:srgbClr val="8A9997"/>
          </a:solidFill>
          <a:ln/>
        </p:spPr>
      </p:sp>
      <p:sp>
        <p:nvSpPr>
          <p:cNvPr id="21" name="Shape 19"/>
          <p:cNvSpPr/>
          <p:nvPr/>
        </p:nvSpPr>
        <p:spPr>
          <a:xfrm>
            <a:off x="4352544" y="3602736"/>
            <a:ext cx="3483864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3831336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3749040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T4-STORAGE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26864" y="40599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192.168.18.193  ·  192.168.30.2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26864" y="431596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bersama · monitoring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26864" y="45720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GbE + 10 GbE SFP+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898380" y="3218688"/>
            <a:ext cx="18288" cy="384048"/>
          </a:xfrm>
          <a:prstGeom prst="rect">
            <a:avLst/>
          </a:prstGeom>
          <a:solidFill>
            <a:srgbClr val="8A9997"/>
          </a:solidFill>
          <a:ln/>
        </p:spPr>
      </p:sp>
      <p:sp>
        <p:nvSpPr>
          <p:cNvPr id="28" name="Shape 26"/>
          <p:cNvSpPr/>
          <p:nvPr/>
        </p:nvSpPr>
        <p:spPr>
          <a:xfrm>
            <a:off x="8156448" y="3602736"/>
            <a:ext cx="3483864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30768" y="3831336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668512" y="3749040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HPC-GPU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30768" y="40599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192.168.18.178  ·  192.168.30.3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30768" y="431596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· 2× A100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30768" y="45720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GbE + 10 GbE SFP+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18304" y="5138928"/>
            <a:ext cx="6556248" cy="182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/>
          <p:nvPr/>
        </p:nvSpPr>
        <p:spPr>
          <a:xfrm>
            <a:off x="4352544" y="5193792"/>
            <a:ext cx="7287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 · 192.168.30.0/24 · NFS 10 GbE · MTU 9000 — hanya dua node ini yang punya kaki di sana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650992"/>
            <a:ext cx="11094415" cy="640080"/>
          </a:xfrm>
          <a:prstGeom prst="roundRect">
            <a:avLst>
              <a:gd name="adj" fmla="val 12857"/>
            </a:avLst>
          </a:prstGeom>
          <a:solidFill>
            <a:srgbClr val="FBF0DC"/>
          </a:solidFill>
          <a:ln w="9525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" y="5888736"/>
            <a:ext cx="146304" cy="146304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38" name="Text 36"/>
          <p:cNvSpPr/>
          <p:nvPr/>
        </p:nvSpPr>
        <p:spPr>
          <a:xfrm>
            <a:off x="1078992" y="5705856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 (192.168.18.0/24) memuat ketiga server, ketiga BMC, dan ONT dalam satu segmen. BMC berbagi port fisik dengan host-nya (NC-SI) — tidak bisa dipisah dengan memindahkan kabel.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server dalam satu halaman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483864" cy="4700016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475488" cy="475488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08176" y="17556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HPC-GPU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08176" y="20116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ASRockRack ROME2D32GM-2T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83664" y="27614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EPYC 7763 · 128c / 256t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7355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83664" y="32461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DDR4 ECC · 2933 MT/s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581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83664" y="37307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A100-SXM4 40 GB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4281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83664" y="42153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RAID0 4× NVMe · 3,5 TB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7274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83664" y="470001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GbE + 10 GbE SFP+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83664" y="51846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.18.178 · .30.3 · BMC .119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5431536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E4F2EF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" y="546811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node komputasi — merangkap login node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52544" y="1481328"/>
            <a:ext cx="3483864" cy="4700016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1755648"/>
            <a:ext cx="475488" cy="475488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864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17556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T4-STORAGE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12080" y="20116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monitoring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26864" y="239572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Supermicro H12SSL-i · Ubuntu 22.04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27889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87568" y="27614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EPYC · 64c / 128t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26864" y="327355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87568" y="32461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GB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26864" y="37581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7568" y="37307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unit · ± 424,6 TB raw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26864" y="424281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87568" y="42153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md127 96 TB · md126 80 TB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26864" y="47274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87568" y="470001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bio-pool 21,7 TB · NFS 10 GbE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26864" y="52120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87568" y="51846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.18.193 · .30.2 · BMC .200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26864" y="5431536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E4F2E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546811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bersama + server monitoring dalam satu chassis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56448" y="1481328"/>
            <a:ext cx="3483864" cy="4700016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30768" y="1755648"/>
            <a:ext cx="475488" cy="475488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6" name="Text 44"/>
          <p:cNvSpPr/>
          <p:nvPr/>
        </p:nvSpPr>
        <p:spPr>
          <a:xfrm>
            <a:off x="8430768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015984" y="17556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PROXMOX-2U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015984" y="201168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&amp; arsip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30768" y="239572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Supermicro H12SSL-I · PVE 9.2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430768" y="27889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491472" y="276148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EPYC 7B13 · 64c / 128t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30768" y="327355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491472" y="32461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· 4 dari 8 channel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430768" y="375818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491472" y="37307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Tesla T4 — menganggur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430768" y="424281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491472" y="42153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zfs-storage raidz2 140 TB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430768" y="47274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491472" y="470001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VM · termasuk SMRT Link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430768" y="52120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491472" y="51846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.18.190 · BMC .13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430768" y="5431536"/>
            <a:ext cx="2935224" cy="566928"/>
          </a:xfrm>
          <a:prstGeom prst="roundRect">
            <a:avLst>
              <a:gd name="adj" fmla="val 12903"/>
            </a:avLst>
          </a:prstGeom>
          <a:solidFill>
            <a:srgbClr val="E4F2EF"/>
          </a:solidFill>
          <a:ln/>
        </p:spPr>
      </p:sp>
      <p:sp>
        <p:nvSpPr>
          <p:cNvPr id="63" name="Text 61"/>
          <p:cNvSpPr/>
          <p:nvPr/>
        </p:nvSpPr>
        <p:spPr>
          <a:xfrm>
            <a:off x="8558784" y="546811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Dicalonkan menjadi pintu masuk data (ingress)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COMPUTE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HPC-GPU — daya besar, pengawasan nihil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971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6459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/ 256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" y="21031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thread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234086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AMD EPYC 7763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1481328"/>
            <a:ext cx="2971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41064" y="16459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TB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941064" y="21031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DDR4 ECC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41064" y="234086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slot dari 32 terisi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962656"/>
            <a:ext cx="2971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31272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86384" y="35844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A100-SXM4 40 GB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3822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terhubung PCIe, bukan NVLink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03320" y="2962656"/>
            <a:ext cx="29718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41064" y="31272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 TB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3941064" y="35844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NVMe RAID0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41064" y="3822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terpakai, tanpa auto-purge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498848"/>
            <a:ext cx="6126480" cy="1700784"/>
          </a:xfrm>
          <a:prstGeom prst="roundRect">
            <a:avLst>
              <a:gd name="adj" fmla="val 4839"/>
            </a:avLst>
          </a:prstGeom>
          <a:solidFill>
            <a:srgbClr val="FAE7E5"/>
          </a:solidFill>
          <a:ln w="9525">
            <a:solidFill>
              <a:srgbClr val="EBCBC7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" y="4645152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dilewati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4956048"/>
            <a:ext cx="5504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mencatat node ini State=IDLE dengan antrian kosong, sementara load nyata 134,92 dengan 22 sesi login dan 4 sesi VS Code Remote. Penyebabnya: slurmctld di 192.168.18.194 tidak merespons, jadi penjadwalan memang tidak bisa jalan dan node dipakai interaktif.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59168" y="1481328"/>
            <a:ext cx="4583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RISIKO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59168" y="1883664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1764792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1.045 event ECC correctable dari satu DIMM (27 Jun – 9 Jul), laju naik sampai ± 5 menit sekali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9168" y="2532888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2414016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BMC penuh dan overflow sejak 9 Juli — tidak ada event hardware tercatat ± 7 minggu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59168" y="3182112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29" name="Text 27"/>
          <p:cNvSpPr/>
          <p:nvPr/>
        </p:nvSpPr>
        <p:spPr>
          <a:xfrm>
            <a:off x="7333488" y="3063240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pemantauan ECC di sisi OS: rasdaemon dan mcelog tidak aktif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59168" y="3831336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31" name="Text 29"/>
          <p:cNvSpPr/>
          <p:nvPr/>
        </p:nvSpPr>
        <p:spPr>
          <a:xfrm>
            <a:off x="7333488" y="3712464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8 GiB terpakai penuh; NUMA node0 hanya sisa 3,2 GB dari 515 GB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59168" y="4480560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33" name="Text 31"/>
          <p:cNvSpPr/>
          <p:nvPr/>
        </p:nvSpPr>
        <p:spPr>
          <a:xfrm>
            <a:off x="7333488" y="4361688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OS SSD konsumer tanpa redundansi, pernah throttling termal kritis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59168" y="5129784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35" name="Text 33"/>
          <p:cNvSpPr/>
          <p:nvPr/>
        </p:nvSpPr>
        <p:spPr>
          <a:xfrm>
            <a:off x="7333488" y="5010912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yes + autentikasi password aktif, firewall mati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59168" y="5779008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37" name="Text 35"/>
          <p:cNvSpPr/>
          <p:nvPr/>
        </p:nvSpPr>
        <p:spPr>
          <a:xfrm>
            <a:off x="7333488" y="5660136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mount NFS gagal; default route keluar lewat 1 GbE, bukan 10 GbE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T4-Storage — 41 disk, sebelas model berbeda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1264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6126480" cy="1536192"/>
          </a:xfrm>
          <a:prstGeom prst="roundRect">
            <a:avLst>
              <a:gd name="adj" fmla="val 5357"/>
            </a:avLst>
          </a:prstGeom>
          <a:solidFill>
            <a:srgbClr val="FAE7E5"/>
          </a:solidFill>
          <a:ln w="9525">
            <a:solidFill>
              <a:srgbClr val="EBCBC7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" y="4809744"/>
            <a:ext cx="5504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TB berada di atas disk desktop SMR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36" y="5120640"/>
            <a:ext cx="5504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belas Seagate BarraCuda ST8000DM004 dipakai di array paritas. SMR membuat rebuild berjalan berhari-hari dan justru sering memicu kegagalan disk berikutnya di tengah rebuild — dan salah satunya sudah berstatus SMART FAILED.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59168" y="1481328"/>
            <a:ext cx="4583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RISIKO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1883664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0" name="Text 7"/>
          <p:cNvSpPr/>
          <p:nvPr/>
        </p:nvSpPr>
        <p:spPr>
          <a:xfrm>
            <a:off x="7333488" y="1764792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/dev/sdj SMART FAILED — 258.448 sektor realokasi, 3.608 pending dan offline-uncorrectable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59168" y="2532888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2" name="Text 9"/>
          <p:cNvSpPr/>
          <p:nvPr/>
        </p:nvSpPr>
        <p:spPr>
          <a:xfrm>
            <a:off x="7333488" y="2414016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Kredensial IPMI terbaca plaintext lewat Prometheus yang terbuka tanpa autentikasi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59168" y="3182112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4" name="Text 11"/>
          <p:cNvSpPr/>
          <p:nvPr/>
        </p:nvSpPr>
        <p:spPr>
          <a:xfrm>
            <a:off x="7333488" y="3063240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mati total — keempat job Prometheus menunjuk IP lama 192.168.18.113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59168" y="3831336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6" name="Text 13"/>
          <p:cNvSpPr/>
          <p:nvPr/>
        </p:nvSpPr>
        <p:spPr>
          <a:xfrm>
            <a:off x="7333488" y="3712464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backup terverifikasi untuk bio-pool 21,7 TB maupun kedua array mdadm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59168" y="4480560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18" name="Text 15"/>
          <p:cNvSpPr/>
          <p:nvPr/>
        </p:nvSpPr>
        <p:spPr>
          <a:xfrm>
            <a:off x="7333488" y="4361688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SPOF ganda: satu-satunya storage bersama sekaligus satu-satunya server monitoring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59168" y="5129784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20" name="Text 17"/>
          <p:cNvSpPr/>
          <p:nvPr/>
        </p:nvSpPr>
        <p:spPr>
          <a:xfrm>
            <a:off x="7333488" y="5010912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md126 dan md127 tidak ter-mount, tapi /media/t4/96-Storage tetap diekspor lewat NFS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59168" y="5779008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22" name="Text 19"/>
          <p:cNvSpPr/>
          <p:nvPr/>
        </p:nvSpPr>
        <p:spPr>
          <a:xfrm>
            <a:off x="7333488" y="5660136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boot SPCC M.2 kelas konsumer tanpa redundansi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HYPERVISOR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PROXMOX-2U — arsip besar, jaring pengaman tipis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POOL ZFS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61264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zfs-storage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raidz2 · 11× 14 TB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94760" y="1920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TB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94760" y="2212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tahan 2 disk mati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23560" y="1901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212848"/>
            <a:ext cx="914400" cy="128016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/>
        </p:spPr>
      </p:sp>
      <p:sp>
        <p:nvSpPr>
          <p:cNvPr id="12" name="Shape 10"/>
          <p:cNvSpPr/>
          <p:nvPr/>
        </p:nvSpPr>
        <p:spPr>
          <a:xfrm>
            <a:off x="5623560" y="22128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43200"/>
            <a:ext cx="61264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28529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backup-pool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127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disk · tanpa redundansi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9476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 TB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9476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10,1 TB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3145536"/>
            <a:ext cx="914400" cy="128016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560" y="3145536"/>
            <a:ext cx="850392" cy="128016"/>
          </a:xfrm>
          <a:prstGeom prst="roundRect">
            <a:avLst>
              <a:gd name="adj" fmla="val 50000"/>
            </a:avLst>
          </a:prstGeom>
          <a:solidFill>
            <a:srgbClr val="BC3F3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675888"/>
            <a:ext cx="61264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4672" y="378561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nvme-scratch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05993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vdev · berbagi NVMe dengan rpool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94760" y="3785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TB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794760" y="40782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redundansi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23560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4078224"/>
            <a:ext cx="914400" cy="128016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407822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608576"/>
            <a:ext cx="612648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" y="47183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" y="4992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vdev · OS hypervisor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94760" y="47183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GB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94760" y="5010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pernah scrub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23560" y="4700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23560" y="5010912"/>
            <a:ext cx="914400" cy="128016"/>
          </a:xfrm>
          <a:prstGeom prst="roundRect">
            <a:avLst>
              <a:gd name="adj" fmla="val 50000"/>
            </a:avLst>
          </a:prstGeom>
          <a:solidFill>
            <a:srgbClr val="E7EDEB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5010912"/>
            <a:ext cx="256032" cy="12801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5559552"/>
            <a:ext cx="6126480" cy="640080"/>
          </a:xfrm>
          <a:prstGeom prst="roundRect">
            <a:avLst>
              <a:gd name="adj" fmla="val 12857"/>
            </a:avLst>
          </a:prstGeom>
          <a:solidFill>
            <a:srgbClr val="FBF0DC"/>
          </a:solidFill>
          <a:ln w="9525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4672" y="5797296"/>
            <a:ext cx="146304" cy="146304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39" name="Text 37"/>
          <p:cNvSpPr/>
          <p:nvPr/>
        </p:nvSpPr>
        <p:spPr>
          <a:xfrm>
            <a:off x="1060704" y="5614416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dari empat pool tanpa redundansi, dan rpool + nvme-scratch berbagi satu NVMe fisik yang sama.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59168" y="1481328"/>
            <a:ext cx="45838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&amp; RISIKO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59168" y="1883664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42" name="Text 40"/>
          <p:cNvSpPr/>
          <p:nvPr/>
        </p:nvSpPr>
        <p:spPr>
          <a:xfrm>
            <a:off x="7333488" y="1764792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job vzdump terjadwal — ketiga VM hilang permanen bila rpool gagal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059168" y="2532888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44" name="Text 42"/>
          <p:cNvSpPr/>
          <p:nvPr/>
        </p:nvSpPr>
        <p:spPr>
          <a:xfrm>
            <a:off x="7333488" y="2414016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backup-pool 93% penuh di single disk berisi 10,1 TB tanpa redundansi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059168" y="3182112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46" name="Text 44"/>
          <p:cNvSpPr/>
          <p:nvPr/>
        </p:nvSpPr>
        <p:spPr>
          <a:xfrm>
            <a:off x="7333488" y="3063240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Passphrase LUKS dan prosedur unlock belum terdokumentasi — kunci hilang = 140 TB terkunci selamanya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59168" y="3831336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48" name="Text 46"/>
          <p:cNvSpPr/>
          <p:nvPr/>
        </p:nvSpPr>
        <p:spPr>
          <a:xfrm>
            <a:off x="7333488" y="3712464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rpool dan nvme-scratch berbagi satu NVMe: OS hypervisor, scratch, dan disk VM hilang serentak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59168" y="4480560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50" name="Text 48"/>
          <p:cNvSpPr/>
          <p:nvPr/>
        </p:nvSpPr>
        <p:spPr>
          <a:xfrm>
            <a:off x="7333488" y="4361688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 hanya 1 GbE — memindahkan 1 TB arsip butuh ± 3 jam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59168" y="5129784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52" name="Text 50"/>
          <p:cNvSpPr/>
          <p:nvPr/>
        </p:nvSpPr>
        <p:spPr>
          <a:xfrm>
            <a:off x="7333488" y="5010912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mengisi 4 dari 8 channel: bandwidth memori ± 50% dari kemampuan platform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59168" y="5779008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54" name="Text 52"/>
          <p:cNvSpPr/>
          <p:nvPr/>
        </p:nvSpPr>
        <p:spPr>
          <a:xfrm>
            <a:off x="7333488" y="5660136"/>
            <a:ext cx="430956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Tesla T4 memakai driver nouveau tanpa passthrough — menganggur total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penuh bukan yang besar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81328"/>
          <a:ext cx="73609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93608" y="1810512"/>
            <a:ext cx="3349447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31352" y="2048256"/>
            <a:ext cx="137160" cy="137160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7" name="Text 4"/>
          <p:cNvSpPr/>
          <p:nvPr/>
        </p:nvSpPr>
        <p:spPr>
          <a:xfrm>
            <a:off x="8769096" y="1975104"/>
            <a:ext cx="2617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backup-pool — 93%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31352" y="2322576"/>
            <a:ext cx="2873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disk tanpa redundansi berisi 10,1 TB. Di atas 90% performa ZFS juga anjlok.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93608" y="3291840"/>
            <a:ext cx="3349447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31352" y="3529584"/>
            <a:ext cx="137160" cy="137160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11" name="Text 8"/>
          <p:cNvSpPr/>
          <p:nvPr/>
        </p:nvSpPr>
        <p:spPr>
          <a:xfrm>
            <a:off x="8769096" y="3456432"/>
            <a:ext cx="2617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/mnt/scratch — 77%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31352" y="3803904"/>
            <a:ext cx="2873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RAID0 empat NVMe tanpa auto-purge. Satu NVMe mati berarti 3,5 TB hilang.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93608" y="4773168"/>
            <a:ext cx="3349447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31352" y="5010912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2"/>
          <p:cNvSpPr/>
          <p:nvPr/>
        </p:nvSpPr>
        <p:spPr>
          <a:xfrm>
            <a:off x="8769096" y="4937760"/>
            <a:ext cx="2617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zfs-storage — 11%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31352" y="5285232"/>
            <a:ext cx="2873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TB masih bebas, tapi praktis terkurung di balik uplink 1 GbE.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PEKERJAAN TERBARU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 101 — SMRT Link untuk sekuenser PacBio Vega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SELESAI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76072" y="1828800"/>
            <a:ext cx="173736" cy="1737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465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24.04.4 LTS + seluruh prasyarat SMRT Link (user, ulimit, locale, NTP)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" y="2377440"/>
            <a:ext cx="173736" cy="1737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9514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LAN, segmen instrumen 192.168.50.0/24, dan NAT — terverifikasi jalan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2926080"/>
            <a:ext cx="173736" cy="1737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4378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data 7,8 TB ter-mount permanen di /data/smrtlink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" y="3474720"/>
            <a:ext cx="173736" cy="1737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92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SMRT Link v26.2.0.292923 terinstall — status layanan 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" y="4023360"/>
            <a:ext cx="173736" cy="1737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410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Acceptance Test LULUS: job HiFi Mapping selesai dalam 136 detik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626864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TERTUNDA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" y="4974336"/>
            <a:ext cx="173736" cy="173736"/>
          </a:xfrm>
          <a:prstGeom prst="ellipse">
            <a:avLst/>
          </a:prstGeom>
          <a:solidFill>
            <a:srgbClr val="F4F7F6"/>
          </a:solidFill>
          <a:ln w="25400">
            <a:solidFill>
              <a:srgbClr val="BC3F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10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admin dan pbinstrument masih default pabrik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" y="5413248"/>
            <a:ext cx="173736" cy="173736"/>
          </a:xfrm>
          <a:prstGeom prst="ellipse">
            <a:avLst/>
          </a:prstGeom>
          <a:solidFill>
            <a:srgbClr val="F4F7F6"/>
          </a:solidFill>
          <a:ln w="25400">
            <a:solidFill>
              <a:srgbClr val="BC3F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Autostart saat boot dan jadwal backup basis data belum diatur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" y="5852160"/>
            <a:ext cx="173736" cy="173736"/>
          </a:xfrm>
          <a:prstGeom prst="ellipse">
            <a:avLst/>
          </a:prstGeom>
          <a:solidFill>
            <a:srgbClr val="F4F7F6"/>
          </a:solidFill>
          <a:ln w="25400">
            <a:solidFill>
              <a:srgbClr val="BC3F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7881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 Vega belum tersambung; backup VM belum terjadwal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481328"/>
            <a:ext cx="4419295" cy="4718304"/>
          </a:xfrm>
          <a:prstGeom prst="roundRect">
            <a:avLst>
              <a:gd name="adj" fmla="val 1862"/>
            </a:avLst>
          </a:prstGeom>
          <a:solidFill>
            <a:srgbClr val="08312F"/>
          </a:solidFill>
          <a:ln/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1664208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101  ·  smrtlink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1938528"/>
            <a:ext cx="3870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vCPU · 64 GB RAM · Ubuntu 24.04.4 LTS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2432304"/>
            <a:ext cx="3870655" cy="877824"/>
          </a:xfrm>
          <a:prstGeom prst="roundRect">
            <a:avLst>
              <a:gd name="adj" fmla="val 8333"/>
            </a:avLst>
          </a:prstGeom>
          <a:solidFill>
            <a:srgbClr val="0C3F3C"/>
          </a:solidFill>
          <a:ln/>
        </p:spPr>
      </p:sp>
      <p:sp>
        <p:nvSpPr>
          <p:cNvPr id="26" name="Shape 24"/>
          <p:cNvSpPr/>
          <p:nvPr/>
        </p:nvSpPr>
        <p:spPr>
          <a:xfrm>
            <a:off x="7662672" y="2615184"/>
            <a:ext cx="118872" cy="1188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2542032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SERVER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62672" y="2798064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enp6s18 → 192.168.18.60/24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62672" y="3017520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SMRT Link · https :8243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433408" y="3328416"/>
            <a:ext cx="18288" cy="256032"/>
          </a:xfrm>
          <a:prstGeom prst="rect">
            <a:avLst/>
          </a:prstGeom>
          <a:solidFill>
            <a:srgbClr val="0F5F5C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0" y="3602736"/>
            <a:ext cx="3870655" cy="877824"/>
          </a:xfrm>
          <a:prstGeom prst="roundRect">
            <a:avLst>
              <a:gd name="adj" fmla="val 8333"/>
            </a:avLst>
          </a:prstGeom>
          <a:solidFill>
            <a:srgbClr val="0C3F3C"/>
          </a:solidFill>
          <a:ln/>
        </p:spPr>
      </p:sp>
      <p:sp>
        <p:nvSpPr>
          <p:cNvPr id="32" name="Shape 30"/>
          <p:cNvSpPr/>
          <p:nvPr/>
        </p:nvSpPr>
        <p:spPr>
          <a:xfrm>
            <a:off x="7662672" y="3785616"/>
            <a:ext cx="118872" cy="118872"/>
          </a:xfrm>
          <a:prstGeom prst="ellipse">
            <a:avLst/>
          </a:prstGeom>
          <a:solidFill>
            <a:srgbClr val="9BD4CB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371246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101 — GATEWAY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62672" y="3968496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enp6s19 → 192.168.50.1/24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62672" y="4187952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keluar · isolasi ke LAN &amp; BMC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433408" y="4498848"/>
            <a:ext cx="18288" cy="256032"/>
          </a:xfrm>
          <a:prstGeom prst="rect">
            <a:avLst/>
          </a:prstGeom>
          <a:solidFill>
            <a:srgbClr val="0F5F5C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4773168"/>
            <a:ext cx="3870655" cy="877824"/>
          </a:xfrm>
          <a:prstGeom prst="roundRect">
            <a:avLst>
              <a:gd name="adj" fmla="val 8333"/>
            </a:avLst>
          </a:prstGeom>
          <a:solidFill>
            <a:srgbClr val="0C3F3C"/>
          </a:solidFill>
          <a:ln/>
        </p:spPr>
      </p:sp>
      <p:sp>
        <p:nvSpPr>
          <p:cNvPr id="38" name="Shape 36"/>
          <p:cNvSpPr/>
          <p:nvPr/>
        </p:nvSpPr>
        <p:spPr>
          <a:xfrm>
            <a:off x="7662672" y="4956048"/>
            <a:ext cx="118872" cy="118872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0" y="4882896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VEGA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62672" y="5138928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192.168.50.10/24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662672" y="5358384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tersambung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0" y="5650992"/>
            <a:ext cx="3870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Perwujudan pertama desain ingress: data sekuenser masuk lewat satu pintu di Proxmox.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TARGET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pintu masuk data, satu tempat menegakkan checksum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587752" cy="1755648"/>
          </a:xfrm>
          <a:prstGeom prst="roundRect">
            <a:avLst>
              <a:gd name="adj" fmla="val 4688"/>
            </a:avLst>
          </a:prstGeom>
          <a:solidFill>
            <a:srgbClr val="0F5F5C"/>
          </a:solidFill>
          <a:ln/>
          <a:effectLst>
            <a:outerShdw sx="100000" sy="100000" kx="0" ky="0" algn="bl" rotWithShape="0" blurRad="127000" dist="25400" dir="5400000">
              <a:srgbClr val="0A2C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00784"/>
            <a:ext cx="329184" cy="329184"/>
          </a:xfrm>
          <a:prstGeom prst="ellipse">
            <a:avLst/>
          </a:prstGeom>
          <a:solidFill>
            <a:srgbClr val="9BD4C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70432" y="171907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PROXMOX-2U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zone, validasi checksum, arsip permanen 140 TB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63824" y="2295144"/>
            <a:ext cx="192024" cy="201168"/>
          </a:xfrm>
          <a:prstGeom prst="rightArrow">
            <a:avLst/>
          </a:prstGeom>
          <a:solidFill>
            <a:srgbClr val="9BD4C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517904"/>
            <a:ext cx="2587752" cy="1755648"/>
          </a:xfrm>
          <a:prstGeom prst="roundRect">
            <a:avLst>
              <a:gd name="adj" fmla="val 4688"/>
            </a:avLst>
          </a:prstGeom>
          <a:solidFill>
            <a:srgbClr val="0C3F3C"/>
          </a:solidFill>
          <a:ln/>
          <a:effectLst>
            <a:outerShdw sx="100000" sy="100000" kx="0" ky="0" algn="bl" rotWithShape="0" blurRad="127000" dist="25400" dir="5400000">
              <a:srgbClr val="0A2C2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02736" y="1700784"/>
            <a:ext cx="329184" cy="329184"/>
          </a:xfrm>
          <a:prstGeom prst="ellipse">
            <a:avLst/>
          </a:prstGeom>
          <a:solidFill>
            <a:srgbClr val="9BD4CB"/>
          </a:solidFill>
          <a:ln/>
        </p:spPr>
      </p:sp>
      <p:sp>
        <p:nvSpPr>
          <p:cNvPr id="13" name="Text 11"/>
          <p:cNvSpPr/>
          <p:nvPr/>
        </p:nvSpPr>
        <p:spPr>
          <a:xfrm>
            <a:off x="3602736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05072" y="171907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02736" y="21396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Zyxel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02736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data 192.168.30.0/24, jumbo frame MTU 9000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98464" y="2295144"/>
            <a:ext cx="192024" cy="201168"/>
          </a:xfrm>
          <a:prstGeom prst="rightArrow">
            <a:avLst/>
          </a:prstGeom>
          <a:solidFill>
            <a:srgbClr val="9BD4C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517904"/>
            <a:ext cx="2587752" cy="1755648"/>
          </a:xfrm>
          <a:prstGeom prst="roundRect">
            <a:avLst>
              <a:gd name="adj" fmla="val 4688"/>
            </a:avLst>
          </a:prstGeom>
          <a:solidFill>
            <a:srgbClr val="0F5F5C"/>
          </a:solidFill>
          <a:ln/>
          <a:effectLst>
            <a:outerShdw sx="100000" sy="100000" kx="0" ky="0" algn="bl" rotWithShape="0" blurRad="127000" dist="25400" dir="5400000">
              <a:srgbClr val="0A2C2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1700784"/>
            <a:ext cx="329184" cy="329184"/>
          </a:xfrm>
          <a:prstGeom prst="ellipse">
            <a:avLst/>
          </a:prstGeom>
          <a:solidFill>
            <a:srgbClr val="9BD4CB"/>
          </a:solidFill>
          <a:ln/>
        </p:spPr>
      </p:sp>
      <p:sp>
        <p:nvSpPr>
          <p:cNvPr id="20" name="Text 18"/>
          <p:cNvSpPr/>
          <p:nvPr/>
        </p:nvSpPr>
        <p:spPr>
          <a:xfrm>
            <a:off x="6437376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39712" y="171907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ANALISIS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37376" y="21396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T4-STORAGE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37376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bio-pool untuk kerja aktif, export NFS ke compute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33104" y="2295144"/>
            <a:ext cx="192024" cy="201168"/>
          </a:xfrm>
          <a:prstGeom prst="rightArrow">
            <a:avLst/>
          </a:prstGeom>
          <a:solidFill>
            <a:srgbClr val="9BD4CB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1517904"/>
            <a:ext cx="2587752" cy="1755648"/>
          </a:xfrm>
          <a:prstGeom prst="roundRect">
            <a:avLst>
              <a:gd name="adj" fmla="val 4688"/>
            </a:avLst>
          </a:prstGeom>
          <a:solidFill>
            <a:srgbClr val="0F5F5C"/>
          </a:solidFill>
          <a:ln/>
          <a:effectLst>
            <a:outerShdw sx="100000" sy="100000" kx="0" ky="0" algn="bl" rotWithShape="0" blurRad="127000" dist="25400" dir="5400000">
              <a:srgbClr val="0A2C2A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72016" y="1700784"/>
            <a:ext cx="329184" cy="329184"/>
          </a:xfrm>
          <a:prstGeom prst="ellipse">
            <a:avLst/>
          </a:prstGeom>
          <a:solidFill>
            <a:srgbClr val="9BD4CB"/>
          </a:solidFill>
          <a:ln/>
        </p:spPr>
      </p:sp>
      <p:sp>
        <p:nvSpPr>
          <p:cNvPr id="27" name="Text 25"/>
          <p:cNvSpPr/>
          <p:nvPr/>
        </p:nvSpPr>
        <p:spPr>
          <a:xfrm>
            <a:off x="9272016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74352" y="171907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272016" y="21396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HPC-GPU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72016" y="2468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berjalan di scratch NVMe lokal, bukan di NFS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529584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ALUR DATA YANG HARUS DIPATUHI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86791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67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7824" y="3840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47088" y="3840480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baru wajib mendarat di Proxmox lebih dulu. Tidak ada pengecualian.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05576" y="3867912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7" name="Text 35"/>
          <p:cNvSpPr/>
          <p:nvPr/>
        </p:nvSpPr>
        <p:spPr>
          <a:xfrm>
            <a:off x="6205576" y="3867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34760" y="3840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04024" y="3840480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diverifikasi sebelum data dianggap diterima.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34340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343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77824" y="43159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847088" y="4315968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Salinan permanen di zfs-storage, read-only setelah ingest.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05576" y="4343400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5" name="Text 43"/>
          <p:cNvSpPr/>
          <p:nvPr/>
        </p:nvSpPr>
        <p:spPr>
          <a:xfrm>
            <a:off x="6205576" y="4343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34760" y="43159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Stage-in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504024" y="4315968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subset yang akan dianalisis yang disalin lewat 10 GbE.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81888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818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77824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847088" y="4791456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I/O berat di NVMe lokal. Jangan menulis file intermediate ke NFS.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05576" y="4818888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53" name="Text 51"/>
          <p:cNvSpPr/>
          <p:nvPr/>
        </p:nvSpPr>
        <p:spPr>
          <a:xfrm>
            <a:off x="6205576" y="4818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534760" y="47914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504024" y="4791456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hasil final (.bam / .cram / .vcf) yang dikembalikan, sudah terkompresi.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5294376"/>
            <a:ext cx="219456" cy="219456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57" name="Text 55"/>
          <p:cNvSpPr/>
          <p:nvPr/>
        </p:nvSpPr>
        <p:spPr>
          <a:xfrm>
            <a:off x="548640" y="5294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77824" y="52669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Arsip hasil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847088" y="5266944"/>
            <a:ext cx="413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final ikut diarsipkan, lalu ruang kerja dibersihkan.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632704"/>
            <a:ext cx="11094415" cy="621792"/>
          </a:xfrm>
          <a:prstGeom prst="roundRect">
            <a:avLst>
              <a:gd name="adj" fmla="val 13235"/>
            </a:avLst>
          </a:prstGeom>
          <a:solidFill>
            <a:srgbClr val="E4F2EF"/>
          </a:solidFill>
          <a:ln w="9525">
            <a:solidFill>
              <a:srgbClr val="C6DFD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22960" y="5870448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2" name="Text 60"/>
          <p:cNvSpPr/>
          <p:nvPr/>
        </p:nvSpPr>
        <p:spPr>
          <a:xfrm>
            <a:off x="1078992" y="5687568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ke target sebenarnya pendek — yang kurang hanya satu link. Proxmox belum punya kaki di VLAN 30, padahal lima slot PCIe kosong, port SFP+ e0/0/25 dan e0/0/27 kosong, dan switch sudah meneruskan jumbo frame.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Sepuluh temuan yang paling menentukan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00784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80160" y="1609344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/dev/sdj berstatus SMART FAILED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80160" y="1865376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258.448 sektor realokasi di array paritas. Satu disk lagi gagal saat rebuild = 80 TB hilang.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51296" y="1481328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0752" y="1700784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1" name="Text 9"/>
          <p:cNvSpPr/>
          <p:nvPr/>
        </p:nvSpPr>
        <p:spPr>
          <a:xfrm>
            <a:off x="6470752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82816" y="1609344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mati total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82816" y="1865376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 job Prometheus menunjuk IP lama .113. Inilah sebabnya disk FAILED di atas lolos tanpa alarm.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450592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2670048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80160" y="2578608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Kredensial IPMI bocor plaintext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80160" y="2834640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Terbaca dari seluruh LAN lewat Prometheus tanpa autentikasi — setara memberi akses fisik ke server.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1296" y="2450592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0752" y="2670048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21" name="Text 19"/>
          <p:cNvSpPr/>
          <p:nvPr/>
        </p:nvSpPr>
        <p:spPr>
          <a:xfrm>
            <a:off x="647075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82816" y="2578608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backup VM sama sekali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82816" y="2834640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job vzdump terjadwal, padahal target pve-backup 20 TiB sudah tersedia di raidz2.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419856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3639312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80160" y="3547872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backup-pool 93% penuh di single disk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80160" y="3803904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 TB tanpa redundansi apa pun. Satu disk mati berarti seluruh isinya hilang.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51296" y="3419856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0752" y="3639312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31" name="Text 29"/>
          <p:cNvSpPr/>
          <p:nvPr/>
        </p:nvSpPr>
        <p:spPr>
          <a:xfrm>
            <a:off x="647075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82816" y="3547872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DIMM HPC-GPU menuju gagal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82816" y="3803904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1.045 event ECC correctable, dan SEL BMC sudah overflow sehingga event baru tidak tercatat.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8096" y="4608576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80160" y="4517136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admin switch masih default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80160" y="4773168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hanya lewat Telnet dan HTTP. Pemegang switch bisa menyadap seluruh trafik.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51296" y="4389120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70752" y="4608576"/>
            <a:ext cx="384048" cy="384048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41" name="Text 39"/>
          <p:cNvSpPr/>
          <p:nvPr/>
        </p:nvSpPr>
        <p:spPr>
          <a:xfrm>
            <a:off x="6470752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82816" y="4517136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Passphrase LUKS belum terdokumentasi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82816" y="4773168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hilang berarti arsip 140 TB tidak bisa dibuka selamanya.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5358384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68096" y="5577840"/>
            <a:ext cx="384048" cy="384048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46" name="Text 44"/>
          <p:cNvSpPr/>
          <p:nvPr/>
        </p:nvSpPr>
        <p:spPr>
          <a:xfrm>
            <a:off x="768096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280160" y="5486400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tidak berjalan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280160" y="5742432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slurmctld di 192.168.18.194 tidak merespons; node compute dipakai interaktif tanpa antrean.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51296" y="5358384"/>
            <a:ext cx="539176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70752" y="5577840"/>
            <a:ext cx="384048" cy="384048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51" name="Text 49"/>
          <p:cNvSpPr/>
          <p:nvPr/>
        </p:nvSpPr>
        <p:spPr>
          <a:xfrm>
            <a:off x="6470752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82816" y="5486400"/>
            <a:ext cx="444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segmentasi jaringan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982816" y="5742432"/>
            <a:ext cx="444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BMC, dan klien Wi-Fi berada dalam satu broadcast domain di belakang perangkat ISP.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JARINGAN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Masalahnya bukan password, tapi tidak adanya pemisahan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822960"/>
          </a:xfrm>
          <a:prstGeom prst="roundRect">
            <a:avLst>
              <a:gd name="adj" fmla="val 10000"/>
            </a:avLst>
          </a:prstGeom>
          <a:solidFill>
            <a:srgbClr val="FBF0DC"/>
          </a:solidFill>
          <a:ln w="9525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91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98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segmen 192.168.18.0/24 memuat tiga server, tiga BMC, ONT, dan klien Wi-Fi sekaligus — satu hop di belakang perangkat ISP.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DITUJU — PEMISAHAN VLAN DI SWITCH ZYXEL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25877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" y="290779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" y="312724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MGMT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" y="3493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 server, web UI Proxmox, host admin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2761488"/>
            <a:ext cx="25877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21024" y="290779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21024" y="312724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21024" y="3493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10 GbE, 192.168.30.0/24, MTU 9000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761488"/>
            <a:ext cx="25877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55664" y="290779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55664" y="312724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IPMI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55664" y="3493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BMC: .200, .13, .119 — terpisah penuh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2761488"/>
            <a:ext cx="25877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90304" y="2907792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8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90304" y="3127248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KLIEN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90304" y="349300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laptop, printer — tanpa jalan ke atas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260901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" y="4425696"/>
            <a:ext cx="220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→ VLAN 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464515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BLOKIR TOTAL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77108" y="4315968"/>
            <a:ext cx="260901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78276" y="4425696"/>
            <a:ext cx="220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→ VLAN 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78276" y="464515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BLOKIR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05576" y="4315968"/>
            <a:ext cx="260901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6744" y="4425696"/>
            <a:ext cx="220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→ internet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6744" y="464515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BLOKIR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34043" y="4315968"/>
            <a:ext cx="260901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35211" y="4425696"/>
            <a:ext cx="220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 → VLAN 30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35211" y="464515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IZINKAN — satu-satunya jalan sah ke BMC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248656"/>
            <a:ext cx="11094415" cy="950976"/>
          </a:xfrm>
          <a:prstGeom prst="roundRect">
            <a:avLst>
              <a:gd name="adj" fmla="val 8654"/>
            </a:avLst>
          </a:prstGeom>
          <a:solidFill>
            <a:srgbClr val="FAE7E5"/>
          </a:solidFill>
          <a:ln w="9525">
            <a:solidFill>
              <a:srgbClr val="EBCBC7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" y="5449824"/>
            <a:ext cx="146304" cy="146304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38" name="Text 36"/>
          <p:cNvSpPr/>
          <p:nvPr/>
        </p:nvSpPr>
        <p:spPr>
          <a:xfrm>
            <a:off x="1078992" y="5358384"/>
            <a:ext cx="10271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tidak bisa dipisahkan dengan memindahkan kabel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78992" y="5632704"/>
            <a:ext cx="102714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MAC switch membuktikan setiap BMC berbagi port fisik dengan host-nya (NC-SI). Pemisahan menuntut dua langkah bersamaan: set VLAN ID 802.1q di dalam tiap BMC, lalu ubah port switch menjadi trunk. Kerjakan hanya saat konsol fisik tersedia.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komponen adalah titik kegagalan tunggal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483864" cy="1682496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190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3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Zyxel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LAN, jalur data 10 GbE, dan seluruh akses BMC hilang serentak. PSU tunggal, firmware 2019.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52544" y="1517904"/>
            <a:ext cx="3483864" cy="1682496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17190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3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26864" y="217627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Huawei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26864" y="2468880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Merangkap gateway, DHCP, dan DNS. Bermasalah = resolusi nama seluruh server ikut mati.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517904"/>
            <a:ext cx="3483864" cy="1682496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0768" y="17190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3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30768" y="217627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T4-Storage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30768" y="2468880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HPC yang membaca bio-pool berhenti, dan visibilitas monitoring hilang bersamaan.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3483864" cy="1682496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6027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" y="4059936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HPC-GPU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352544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node komputasi. Tidak ada tempat lain untuk menjalankan pipeline.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52544" y="3401568"/>
            <a:ext cx="3483864" cy="1682496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26864" y="36027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26864" y="4059936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PROXMOX-2U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26864" y="4352544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Arsip 140 TB, target backup, dan host SMRT Link berhenti dalam satu kejadian.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401568"/>
            <a:ext cx="3483864" cy="1682496"/>
          </a:xfrm>
          <a:prstGeom prst="roundRect">
            <a:avLst>
              <a:gd name="adj" fmla="val 4891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30768" y="360273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30768" y="4059936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OS tiap node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30768" y="4352544"/>
            <a:ext cx="2935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single disk kelas konsumer tanpa mirror. Mati = node tidak bisa boot.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49824"/>
            <a:ext cx="11094415" cy="786384"/>
          </a:xfrm>
          <a:prstGeom prst="roundRect">
            <a:avLst>
              <a:gd name="adj" fmla="val 10465"/>
            </a:avLst>
          </a:prstGeom>
          <a:solidFill>
            <a:srgbClr val="08312F"/>
          </a:solidFill>
          <a:ln/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9536" y="5541264"/>
            <a:ext cx="104726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paling parah adalah switch: satu perangkat, satu PSU, firmware tujuh tahun — matinya menghapus internet, LAN, jalur data, dan jalan pemulihan lewat BMC secara bersamaan.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TINDAK LANJUT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Urutan pengerjaan menurut rasio risiko terhadap biaya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483864" cy="4718304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420624" cy="420624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17373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SEGERA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53312" y="1993392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ini · tanpa biaya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41248" y="2496312"/>
            <a:ext cx="118872" cy="118872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377440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Rotasi kredensial BMC 192.168.18.200 dan keluarkan password dari prometheus.yml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" y="3246120"/>
            <a:ext cx="118872" cy="118872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127248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password admin switch Zyxel; matikan Telnet, aktifkan SSH dan HTTPS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" y="3995928"/>
            <a:ext cx="118872" cy="118872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877056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target Prometheus .113 → .193 supaya alarm hidup kembali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4745736"/>
            <a:ext cx="118872" cy="118872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626864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Ganti password default SMRT Link (admin dan pbinstrument)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" y="5495544"/>
            <a:ext cx="118872" cy="118872"/>
          </a:xfrm>
          <a:prstGeom prst="ellipse">
            <a:avLst/>
          </a:prstGeom>
          <a:solidFill>
            <a:srgbClr val="BC3F38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5376672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Rotasi password root HPC-GPU, matikan login root dan autentikasi password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52544" y="1481328"/>
            <a:ext cx="3483864" cy="4718304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737360"/>
            <a:ext cx="420624" cy="420624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21" name="Text 19"/>
          <p:cNvSpPr/>
          <p:nvPr/>
        </p:nvSpPr>
        <p:spPr>
          <a:xfrm>
            <a:off x="4626864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57216" y="17373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 PENDEK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57216" y="1993392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 bulan · perlu jendela maintenance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5152" y="2496312"/>
            <a:ext cx="118872" cy="118872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25" name="Text 23"/>
          <p:cNvSpPr/>
          <p:nvPr/>
        </p:nvSpPr>
        <p:spPr>
          <a:xfrm>
            <a:off x="4882896" y="2377440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Jadwalkan vzdump ketiga VM ke pve-backup (20 TiB di raidz2)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5152" y="3246120"/>
            <a:ext cx="118872" cy="118872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27" name="Text 25"/>
          <p:cNvSpPr/>
          <p:nvPr/>
        </p:nvSpPr>
        <p:spPr>
          <a:xfrm>
            <a:off x="4882896" y="3127248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lokasi /dev/sdj, siapkan disk pengganti enterprise CMR, jadwalkan penggantian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3995928"/>
            <a:ext cx="118872" cy="118872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29" name="Text 27"/>
          <p:cNvSpPr/>
          <p:nvPr/>
        </p:nvSpPr>
        <p:spPr>
          <a:xfrm>
            <a:off x="4882896" y="3877056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slot DIMM bermasalah di HPC-GPU, kosongkan SEL, aktifkan rasdaemon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4745736"/>
            <a:ext cx="118872" cy="118872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31" name="Text 29"/>
          <p:cNvSpPr/>
          <p:nvPr/>
        </p:nvSpPr>
        <p:spPr>
          <a:xfrm>
            <a:off x="4882896" y="4626864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Turunkan isi backup-pool di bawah 80% dan putuskan nasib slurmctld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5495544"/>
            <a:ext cx="118872" cy="118872"/>
          </a:xfrm>
          <a:prstGeom prst="ellipse">
            <a:avLst/>
          </a:prstGeom>
          <a:solidFill>
            <a:srgbClr val="D98E20"/>
          </a:solidFill>
          <a:ln/>
        </p:spPr>
      </p:sp>
      <p:sp>
        <p:nvSpPr>
          <p:cNvPr id="33" name="Text 31"/>
          <p:cNvSpPr/>
          <p:nvPr/>
        </p:nvSpPr>
        <p:spPr>
          <a:xfrm>
            <a:off x="4882896" y="5376672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Dokumentasikan passphrase LUKS dan prosedur unlock di password manager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56448" y="1481328"/>
            <a:ext cx="3483864" cy="4718304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9525">
            <a:solidFill>
              <a:srgbClr val="DBE5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2C2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30768" y="1737360"/>
            <a:ext cx="420624" cy="420624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36" name="Text 34"/>
          <p:cNvSpPr/>
          <p:nvPr/>
        </p:nvSpPr>
        <p:spPr>
          <a:xfrm>
            <a:off x="843076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61120" y="17373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8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 MENENGAH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961120" y="1993392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kuartal ini · perlu pengadaan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449056" y="2496312"/>
            <a:ext cx="118872" cy="118872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0" y="2377440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NIC SFP+ 10 GbE di Proxmox ke e0/0/25, masukkan ke VLAN 30, set MTU 9000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49056" y="3246120"/>
            <a:ext cx="118872" cy="118872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0" y="3127248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segmentasi VLAN MGMT / DATA / IPMI / KLIEN saat konsol fisik tersedia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49056" y="3995928"/>
            <a:ext cx="118872" cy="118872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0" y="3877056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landing zone dan prosedur checksum sesuai kontrak alur data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49056" y="4745736"/>
            <a:ext cx="118872" cy="118872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0" y="4626864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fisik: rak, posisi RU, jalur PDU, UPS, peta bay disk, label kabel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449056" y="5495544"/>
            <a:ext cx="118872" cy="118872"/>
          </a:xfrm>
          <a:prstGeom prst="ellipse">
            <a:avLst/>
          </a:prstGeom>
          <a:solidFill>
            <a:srgbClr val="0F5F5C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0" y="5376672"/>
            <a:ext cx="2679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C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2× Tesla T4 yang menganggur lewat passthrough ke VM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Bioinformatika  ·  audit 2 September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hal yang menentukan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00200" y="1591056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Perangkat kerasnya sudah memadai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975104"/>
            <a:ext cx="10042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core, 1,4 TB RAM, dua A100, dan lebih dari setengah petabyte kapasitas terpasang. Yang belum sepadan adalah lapisan di sekelilingnya — redundansi, backup, dan pengawasan.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600200" y="3108960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perbaikan tanpa biaya menutup risiko terbesar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493008"/>
            <a:ext cx="10042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Rotasi kredensial BMC, ganti password switch, perbaiki target Prometheus, dan jadwalkan vzdump. Keempatnya bisa dikerjakan minggu ini dan tidak menuntut pengadaan apa pun.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085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00200" y="4626864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link 10 GbE memisahkan keadaan sekarang dari arsitektur target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5010912"/>
            <a:ext cx="10042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B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PCIe kosong, port SFP+ kosong, dan jumbo frame sudah aktif di switch. Tapi backup dan kapasitas backup-pool harus beres lebih dulu — kalau tidak, ingress hanya memindahkan risiko.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9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repositori dokumentasi infrastruktur — inventory/, docs/sop/, track-record/. Seluruh angka disalin apa adanya dari hasil pendataan 28 Agustus dan 2 September 2026.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Bioinformatics HPC Infrastructure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Infrastruktur Server Bioinformatika</dc:title>
  <dc:subject>PptxGenJS Presentation</dc:subject>
  <dc:creator>Tim Sysadmin</dc:creator>
  <cp:lastModifiedBy>Tim Sysadmin</cp:lastModifiedBy>
  <cp:revision>1</cp:revision>
  <dcterms:created xsi:type="dcterms:W3CDTF">2026-09-02T09:55:06Z</dcterms:created>
  <dcterms:modified xsi:type="dcterms:W3CDTF">2026-09-02T09:55:06Z</dcterms:modified>
</cp:coreProperties>
</file>